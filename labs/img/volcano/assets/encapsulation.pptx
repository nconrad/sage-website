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howSpecialPlsOnTitleSld="0" strictFirstAndLastChars="0">
  <p:sldMasterIdLst>
    <p:sldMasterId id="2147483648" r:id="rId1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279120" name="Google Shape;3;n"/>
          <p:cNvSpPr/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2005614" name="Google Shape;4;n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526199" name="Google Shape;96;g3a21f9eb6ba_0_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05542758" name="Google Shape;97;g3a21f9eb6ba_0_0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4677490" name="Google Shape;102;g3a21f9eb6ba_0_4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22169428" name="Google Shape;103;g3a21f9eb6ba_0_44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9115602" name="Google Shape;109;g3a21f9eb6ba_0_8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97235730" name="Google Shape;110;g3a21f9eb6ba_0_88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871162" name="Google Shape;116;g3a21f9eb6ba_0_18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61847896" name="Google Shape;117;g3a21f9eb6ba_0_180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4579296" name="Google Shape;122;g3a21f9eb6ba_0_92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14099567" name="Google Shape;123;g3a21f9eb6ba_0_92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5327731" name="Google Shape;131;g3a21f9eb6ba_0_10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68826657" name="Google Shape;132;g3a21f9eb6ba_0_100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62027" name="Google Shape;142;g3a21f9eb6ba_0_10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39771681" name="Google Shape;143;g3a21f9eb6ba_0_104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1943251" name="Google Shape;149;g3a21f9eb6ba_0_17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94505291" name="Google Shape;150;g3a21f9eb6ba_0_175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447463" name="Google Shape;155;g3a21f9eb6ba_0_10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53134128" name="Google Shape;156;g3a21f9eb6ba_0_108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508725" name="Google Shape;165;g3a21f9eb6ba_0_112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59188741" name="Google Shape;166;g3a21f9eb6ba_0_112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4317572" name="Google Shape;179;g3a21f9eb6ba_0_142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72322968" name="Google Shape;180;g3a21f9eb6ba_0_142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77646" name="Google Shape;187;g3a21f9eb6ba_0_146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86911913" name="Google Shape;188;g3a21f9eb6ba_0_146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6923802" name="Google Shape;195;g3a21f9eb6ba_0_15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99601303" name="Google Shape;196;g3a21f9eb6ba_0_150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body" preserve="0" showMasterPhAnim="0" showMasterSp="1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723110" name="Google Shape;12;p4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11348864" name="Google Shape;13;p4"/>
          <p:cNvSpPr txBox="1"/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82484263" name="Google Shape;14;p4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One column text" preserve="0" showMasterPhAnim="0" showMasterSp="1" userDrawn="1">
  <p:cSld name="ONE_COLUM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083538" name="Google Shape;25;p6"/>
          <p:cNvSpPr txBox="1"/>
          <p:nvPr>
            <p:ph type="title"/>
          </p:nvPr>
        </p:nvSpPr>
        <p:spPr bwMode="auto"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119442544" name="Google Shape;26;p6"/>
          <p:cNvSpPr txBox="1"/>
          <p:nvPr>
            <p:ph type="body" idx="1"/>
          </p:nvPr>
        </p:nvSpPr>
        <p:spPr bwMode="auto"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1485199282" name="Google Shape;27;p6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in point" preserve="0" showMasterPhAnim="0" showMasterSp="1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5338491" name="Google Shape;29;p7"/>
          <p:cNvSpPr txBox="1"/>
          <p:nvPr>
            <p:ph type="title"/>
          </p:nvPr>
        </p:nvSpPr>
        <p:spPr bwMode="auto"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  <p:sp>
        <p:nvSpPr>
          <p:cNvPr id="302858243" name="Google Shape;30;p7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2925421" name="Google Shape;6;p3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540182094" name="Google Shape;7;p3"/>
          <p:cNvSpPr txBox="1"/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914400" marR="0" lvl="1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marR="0" lvl="2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marR="0" lvl="3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marR="0" lvl="4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marR="0" lvl="5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marR="0" lvl="6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marR="0" lvl="7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marR="0" lvl="8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911684056" name="Google Shape;8;p3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17417836" name="Google Shape;9;p3"/>
          <p:cNvPicPr/>
          <p:nvPr/>
        </p:nvPicPr>
        <p:blipFill>
          <a:blip r:embed="rId5">
            <a:alphaModFix/>
          </a:blip>
          <a:srcRect l="0" t="0" r="0" b="0"/>
          <a:stretch/>
        </p:blipFill>
        <p:spPr bwMode="auto">
          <a:xfrm>
            <a:off x="311700" y="4588091"/>
            <a:ext cx="1177632" cy="543852"/>
          </a:xfrm>
          <a:prstGeom prst="rect">
            <a:avLst/>
          </a:prstGeom>
          <a:noFill/>
          <a:ln>
            <a:noFill/>
          </a:ln>
        </p:spPr>
      </p:pic>
      <p:sp>
        <p:nvSpPr>
          <p:cNvPr id="814778882" name="Google Shape;10;p3"/>
          <p:cNvSpPr/>
          <p:nvPr/>
        </p:nvSpPr>
        <p:spPr bwMode="auto">
          <a:xfrm rot="-5400000">
            <a:off x="-2476115" y="2476113"/>
            <a:ext cx="5143502" cy="191271"/>
          </a:xfrm>
          <a:prstGeom prst="leftRightArrow">
            <a:avLst>
              <a:gd name="adj1" fmla="val 100000"/>
              <a:gd name="adj2" fmla="val 0"/>
            </a:avLst>
          </a:prstGeom>
          <a:gradFill>
            <a:gsLst>
              <a:gs pos="0">
                <a:srgbClr val="92D050"/>
              </a:gs>
              <a:gs pos="50000">
                <a:srgbClr val="A8C7FA"/>
              </a:gs>
              <a:gs pos="100000">
                <a:srgbClr val="7A81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Sage Grande Testbed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dt="0" ftr="0" hdr="0" sldNum="1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moondream.ai/" TargetMode="External"/><Relationship Id="rId4" Type="http://schemas.openxmlformats.org/officeDocument/2006/relationships/hyperlink" Target="https://github.com/cleeuh/moondream-for-sage-node" TargetMode="Externa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docker.com/build/building/multi-platform/" TargetMode="Externa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hyperlink" Target="https://portal.sagecontinuum.org" TargetMode="Externa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277033" name="Google Shape;99;g3a21f9eb6ba_0_0"/>
          <p:cNvSpPr txBox="1"/>
          <p:nvPr>
            <p:ph type="title"/>
          </p:nvPr>
        </p:nvSpPr>
        <p:spPr bwMode="auto"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r>
              <a:rPr lang="en-US"/>
              <a:t>LLM Encapsulation in Sage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pPr>
            <a:endParaRPr sz="3600"/>
          </a:p>
        </p:txBody>
      </p:sp>
      <p:sp>
        <p:nvSpPr>
          <p:cNvPr id="1338886732" name="Google Shape;100;g3a21f9eb6ba_0_0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6568855" name="Google Shape;105;g3a21f9eb6ba_0_44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3151716" name="Google Shape;106;g3a21f9eb6ba_0_44"/>
          <p:cNvSpPr txBox="1"/>
          <p:nvPr/>
        </p:nvSpPr>
        <p:spPr bwMode="auto"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>
                <a:solidFill>
                  <a:srgbClr val="000000"/>
                </a:solidFill>
              </a:rPr>
              <a:t>Overview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612153446" name="Google Shape;107;g3a21f9eb6ba_0_44"/>
          <p:cNvSpPr txBox="1"/>
          <p:nvPr/>
        </p:nvSpPr>
        <p:spPr bwMode="auto"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pPr>
            <a:r>
              <a:rPr lang="en-US" sz="1800">
                <a:solidFill>
                  <a:srgbClr val="595959"/>
                </a:solidFill>
              </a:rPr>
              <a:t>Background Information</a:t>
            </a:r>
            <a:endParaRPr sz="1800">
              <a:solidFill>
                <a:srgbClr val="595959"/>
              </a:solidFill>
            </a:endParaRPr>
          </a:p>
          <a:p>
            <a:pPr marL="45720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pPr>
            <a:r>
              <a:rPr lang="en-US" sz="1800">
                <a:solidFill>
                  <a:srgbClr val="595959"/>
                </a:solidFill>
              </a:rPr>
              <a:t>Coding</a:t>
            </a:r>
            <a:endParaRPr sz="1800">
              <a:solidFill>
                <a:srgbClr val="595959"/>
              </a:solidFill>
            </a:endParaRPr>
          </a:p>
          <a:p>
            <a:pPr marL="914400" lvl="1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  <a:defRPr/>
            </a:pPr>
            <a:r>
              <a:rPr lang="en-US">
                <a:solidFill>
                  <a:srgbClr val="595959"/>
                </a:solidFill>
              </a:rPr>
              <a:t>My experience in setting up and deploy an LLM on the Sage Node</a:t>
            </a:r>
            <a:endParaRPr>
              <a:solidFill>
                <a:srgbClr val="595959"/>
              </a:solidFill>
            </a:endParaRPr>
          </a:p>
          <a:p>
            <a:pPr marL="914400" lvl="1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  <a:defRPr/>
            </a:pPr>
            <a:r>
              <a:rPr lang="en-US">
                <a:solidFill>
                  <a:srgbClr val="595959"/>
                </a:solidFill>
              </a:rPr>
              <a:t>Going over, what I assume to be, the important aspects</a:t>
            </a:r>
            <a:endParaRPr>
              <a:solidFill>
                <a:srgbClr val="595959"/>
              </a:solidFill>
            </a:endParaRPr>
          </a:p>
          <a:p>
            <a:pPr marL="45720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pPr>
            <a:r>
              <a:rPr lang="en-US" sz="1800">
                <a:solidFill>
                  <a:srgbClr val="595959"/>
                </a:solidFill>
              </a:rPr>
              <a:t>ECR Deployment</a:t>
            </a:r>
            <a:endParaRPr sz="1800">
              <a:solidFill>
                <a:srgbClr val="595959"/>
              </a:solidFill>
            </a:endParaRPr>
          </a:p>
          <a:p>
            <a:pPr marL="914400" lvl="1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  <a:defRPr/>
            </a:pPr>
            <a:r>
              <a:rPr lang="en-US">
                <a:solidFill>
                  <a:srgbClr val="595959"/>
                </a:solidFill>
              </a:rPr>
              <a:t>Quick Start for Deploying Moondream 2 on ECR</a:t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714823" name="Google Shape;112;g3a21f9eb6ba_0_88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0633216" name="Google Shape;113;g3a21f9eb6ba_0_88"/>
          <p:cNvSpPr txBox="1"/>
          <p:nvPr/>
        </p:nvSpPr>
        <p:spPr bwMode="auto"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>
                <a:solidFill>
                  <a:srgbClr val="000000"/>
                </a:solidFill>
              </a:rPr>
              <a:t>Background Information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970752318" name="Google Shape;114;g3a21f9eb6ba_0_88"/>
          <p:cNvSpPr txBox="1"/>
          <p:nvPr/>
        </p:nvSpPr>
        <p:spPr bwMode="auto"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pPr>
            <a:r>
              <a:rPr lang="en-US" sz="1800">
                <a:solidFill>
                  <a:srgbClr val="595959"/>
                </a:solidFill>
              </a:rPr>
              <a:t>What is Moondream</a:t>
            </a:r>
            <a:endParaRPr sz="1800">
              <a:solidFill>
                <a:srgbClr val="595959"/>
              </a:solidFill>
            </a:endParaRPr>
          </a:p>
          <a:p>
            <a:pPr marL="914400" lvl="1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  <a:defRPr/>
            </a:pPr>
            <a:r>
              <a:rPr lang="en-US">
                <a:solidFill>
                  <a:srgbClr val="595959"/>
                </a:solidFill>
              </a:rPr>
              <a:t>Moondream is a tiny vision language model typically meant for low resource availability devices like edge devices</a:t>
            </a:r>
            <a:endParaRPr>
              <a:solidFill>
                <a:srgbClr val="595959"/>
              </a:solidFill>
            </a:endParaRPr>
          </a:p>
          <a:p>
            <a:pPr marL="914400" lvl="1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  <a:defRPr/>
            </a:pPr>
            <a:r>
              <a:rPr lang="en-US">
                <a:solidFill>
                  <a:srgbClr val="595959"/>
                </a:solidFill>
              </a:rPr>
              <a:t>Inputs typically are image + prompt and output can be a natural language response, point detection, and object detection</a:t>
            </a:r>
            <a:endParaRPr>
              <a:solidFill>
                <a:srgbClr val="595959"/>
              </a:solidFill>
            </a:endParaRPr>
          </a:p>
          <a:p>
            <a:pPr marL="914400" lvl="1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  <a:defRPr/>
            </a:pPr>
            <a:r>
              <a:rPr lang="en-US" u="sng">
                <a:solidFill>
                  <a:srgbClr val="0097A7"/>
                </a:solidFill>
                <a:hlinkClick r:id="rId3" tooltip=""/>
              </a:rPr>
              <a:t>https://moondream.ai/</a:t>
            </a:r>
            <a:endParaRPr>
              <a:solidFill>
                <a:srgbClr val="595959"/>
              </a:solidFill>
            </a:endParaRPr>
          </a:p>
          <a:p>
            <a:pPr marL="45720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pPr>
            <a:r>
              <a:rPr lang="en-US" sz="1800">
                <a:solidFill>
                  <a:srgbClr val="595959"/>
                </a:solidFill>
              </a:rPr>
              <a:t>What is Moondream in Sage?</a:t>
            </a:r>
            <a:endParaRPr sz="1800">
              <a:solidFill>
                <a:srgbClr val="595959"/>
              </a:solidFill>
            </a:endParaRPr>
          </a:p>
          <a:p>
            <a:pPr marL="914400" lvl="1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  <a:defRPr/>
            </a:pPr>
            <a:r>
              <a:rPr lang="en-US">
                <a:solidFill>
                  <a:srgbClr val="595959"/>
                </a:solidFill>
              </a:rPr>
              <a:t>Moondream in Sage is basically having taken the moondream model and wrapping it in a container that is deployable on Sage Nodes.</a:t>
            </a:r>
            <a:endParaRPr>
              <a:solidFill>
                <a:srgbClr val="595959"/>
              </a:solidFill>
            </a:endParaRPr>
          </a:p>
          <a:p>
            <a:pPr marL="914400" lvl="1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  <a:defRPr/>
            </a:pPr>
            <a:r>
              <a:rPr lang="en-US" u="sng">
                <a:solidFill>
                  <a:srgbClr val="0097A7"/>
                </a:solidFill>
                <a:hlinkClick r:id="rId4" tooltip=""/>
              </a:rPr>
              <a:t>https://github.com/cleeuh/moondream-for-sage-node</a:t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891912" name="Google Shape;119;g3a21f9eb6ba_0_180"/>
          <p:cNvSpPr txBox="1"/>
          <p:nvPr>
            <p:ph type="title"/>
          </p:nvPr>
        </p:nvSpPr>
        <p:spPr bwMode="auto"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r>
              <a:rPr lang="en-US"/>
              <a:t>LLM Encapsulation in Sage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pPr>
            <a:r>
              <a:rPr lang="en-US" sz="3600"/>
              <a:t>Coding</a:t>
            </a:r>
            <a:endParaRPr sz="3600"/>
          </a:p>
        </p:txBody>
      </p:sp>
      <p:sp>
        <p:nvSpPr>
          <p:cNvPr id="1626523585" name="Google Shape;120;g3a21f9eb6ba_0_180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081463" name="Google Shape;125;g3a21f9eb6ba_0_92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4260059" name="Google Shape;126;g3a21f9eb6ba_0_92"/>
          <p:cNvSpPr txBox="1"/>
          <p:nvPr/>
        </p:nvSpPr>
        <p:spPr bwMode="auto"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>
                <a:solidFill>
                  <a:srgbClr val="000000"/>
                </a:solidFill>
              </a:rPr>
              <a:t>Dockerfile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1429865273" name="Google Shape;127;g3a21f9eb6ba_0_92"/>
          <p:cNvPicPr/>
          <p:nvPr/>
        </p:nvPicPr>
        <p:blipFill>
          <a:blip r:embed="rId3">
            <a:alphaModFix/>
          </a:blip>
          <a:srcRect l="0" t="0" r="0" b="1322"/>
          <a:stretch/>
        </p:blipFill>
        <p:spPr bwMode="auto">
          <a:xfrm>
            <a:off x="311700" y="1152475"/>
            <a:ext cx="4260300" cy="3327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521833556" name="Google Shape;128;g3a21f9eb6ba_0_92"/>
          <p:cNvSpPr txBox="1"/>
          <p:nvPr/>
        </p:nvSpPr>
        <p:spPr bwMode="auto">
          <a:xfrm>
            <a:off x="4742350" y="1152475"/>
            <a:ext cx="4089600" cy="38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34327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●"/>
              <a:defRPr/>
            </a:pPr>
            <a:r>
              <a:rPr lang="en-US" sz="1800">
                <a:solidFill>
                  <a:srgbClr val="595959"/>
                </a:solidFill>
              </a:rPr>
              <a:t>Base Image: waggle/plugin-base:1.1.1-ml-torch1.9</a:t>
            </a:r>
            <a:endParaRPr sz="1800">
              <a:solidFill>
                <a:srgbClr val="595959"/>
              </a:solidFill>
            </a:endParaRPr>
          </a:p>
          <a:p>
            <a:pPr marL="457200" lvl="0" indent="-334327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●"/>
              <a:defRPr/>
            </a:pPr>
            <a:r>
              <a:rPr lang="en-US" sz="1800">
                <a:solidFill>
                  <a:srgbClr val="595959"/>
                </a:solidFill>
              </a:rPr>
              <a:t>Updating to newer python version by referencing newer repository or compiling.</a:t>
            </a:r>
            <a:endParaRPr sz="1800">
              <a:solidFill>
                <a:srgbClr val="595959"/>
              </a:solidFill>
            </a:endParaRPr>
          </a:p>
          <a:p>
            <a:pPr marL="914400" lvl="1" indent="-310832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○"/>
              <a:defRPr/>
            </a:pPr>
            <a:r>
              <a:rPr lang="en-US">
                <a:solidFill>
                  <a:srgbClr val="595959"/>
                </a:solidFill>
              </a:rPr>
              <a:t>For less headaches, I recommend trying to either reference a newer repo or installing from local (.deb files) before trying to compile from source.</a:t>
            </a:r>
            <a:endParaRPr>
              <a:solidFill>
                <a:srgbClr val="595959"/>
              </a:solidFill>
            </a:endParaRPr>
          </a:p>
          <a:p>
            <a:pPr marL="914400" lvl="1" indent="-310832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○"/>
              <a:defRPr/>
            </a:pPr>
            <a:r>
              <a:rPr lang="en-US">
                <a:solidFill>
                  <a:srgbClr val="595959"/>
                </a:solidFill>
              </a:rPr>
              <a:t>Newer python versions will support more up to date packages (pytorch 2.x, onnxruntime, etc.)</a:t>
            </a:r>
            <a:endParaRPr>
              <a:solidFill>
                <a:srgbClr val="595959"/>
              </a:solidFill>
            </a:endParaRPr>
          </a:p>
          <a:p>
            <a:pPr marL="457200" lvl="0" indent="-334327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●"/>
              <a:defRPr/>
            </a:pPr>
            <a:r>
              <a:rPr lang="en-US" sz="1800">
                <a:solidFill>
                  <a:srgbClr val="595959"/>
                </a:solidFill>
              </a:rPr>
              <a:t>Be cognizant of ARM vs x86 repos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086713238" name="Google Shape;129;g3a21f9eb6ba_0_92"/>
          <p:cNvSpPr/>
          <p:nvPr/>
        </p:nvSpPr>
        <p:spPr bwMode="auto">
          <a:xfrm>
            <a:off x="311700" y="1017724"/>
            <a:ext cx="768900" cy="1233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0000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>
                <a:solidFill>
                  <a:srgbClr val="EEEEEE"/>
                </a:solidFill>
              </a:rPr>
              <a:t>Dockerfile</a:t>
            </a:r>
            <a:endParaRPr sz="900">
              <a:solidFill>
                <a:srgbClr val="EEEEE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254003" name="Google Shape;134;g3a21f9eb6ba_0_100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9826109" name="Google Shape;135;g3a21f9eb6ba_0_100"/>
          <p:cNvSpPr txBox="1"/>
          <p:nvPr/>
        </p:nvSpPr>
        <p:spPr bwMode="auto"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>
                <a:solidFill>
                  <a:srgbClr val="000000"/>
                </a:solidFill>
              </a:rPr>
              <a:t>Arguments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656445247" name="Google Shape;136;g3a21f9eb6ba_0_100"/>
          <p:cNvSpPr txBox="1"/>
          <p:nvPr/>
        </p:nvSpPr>
        <p:spPr bwMode="auto">
          <a:xfrm>
            <a:off x="3361900" y="1152475"/>
            <a:ext cx="2733600" cy="38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655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Char char="●"/>
              <a:defRPr/>
            </a:pPr>
            <a:r>
              <a:rPr lang="en-US" sz="1700">
                <a:solidFill>
                  <a:srgbClr val="595959"/>
                </a:solidFill>
              </a:rPr>
              <a:t>Use argparse library </a:t>
            </a:r>
            <a:endParaRPr sz="1700">
              <a:solidFill>
                <a:srgbClr val="595959"/>
              </a:solidFill>
            </a:endParaRPr>
          </a:p>
          <a:p>
            <a:pPr marL="914400" lvl="1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  <a:defRPr/>
            </a:pPr>
            <a:r>
              <a:rPr lang="en-US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</a:rPr>
              <a:t>import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</a:rPr>
              <a:t> argparse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</a:endParaRPr>
          </a:p>
          <a:p>
            <a:pPr marL="457200" lvl="0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  <a:defRPr/>
            </a:pPr>
            <a:r>
              <a:rPr lang="en-US" sz="1600">
                <a:solidFill>
                  <a:srgbClr val="595959"/>
                </a:solidFill>
              </a:rPr>
              <a:t>Make sure arguments are also noted in sage.yaml</a:t>
            </a:r>
            <a:endParaRPr sz="1600">
              <a:solidFill>
                <a:srgbClr val="595959"/>
              </a:solidFill>
            </a:endParaRPr>
          </a:p>
        </p:txBody>
      </p:sp>
      <p:pic>
        <p:nvPicPr>
          <p:cNvPr id="369965170" name="Google Shape;137;g3a21f9eb6ba_0_100"/>
          <p:cNvPicPr/>
          <p:nvPr/>
        </p:nvPicPr>
        <p:blipFill>
          <a:blip r:embed="rId3">
            <a:alphaModFix/>
          </a:blip>
          <a:srcRect l="0" t="0" r="56320" b="14310"/>
          <a:stretch/>
        </p:blipFill>
        <p:spPr bwMode="auto">
          <a:xfrm>
            <a:off x="281318" y="1170125"/>
            <a:ext cx="3164400" cy="32591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58241875" name="Google Shape;138;g3a21f9eb6ba_0_100"/>
          <p:cNvPicPr/>
          <p:nvPr/>
        </p:nvPicPr>
        <p:blipFill>
          <a:blip r:embed="rId4">
            <a:alphaModFix/>
          </a:blip>
          <a:srcRect l="0" t="0" r="30656" b="7926"/>
          <a:stretch/>
        </p:blipFill>
        <p:spPr bwMode="auto">
          <a:xfrm>
            <a:off x="6148150" y="1161300"/>
            <a:ext cx="2684151" cy="350192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83821779" name="Google Shape;139;g3a21f9eb6ba_0_100"/>
          <p:cNvSpPr/>
          <p:nvPr/>
        </p:nvSpPr>
        <p:spPr bwMode="auto">
          <a:xfrm>
            <a:off x="6148150" y="1017724"/>
            <a:ext cx="768900" cy="1233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0000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>
                <a:solidFill>
                  <a:srgbClr val="EEEEEE"/>
                </a:solidFill>
              </a:rPr>
              <a:t>sage.yaml</a:t>
            </a:r>
            <a:endParaRPr sz="900">
              <a:solidFill>
                <a:srgbClr val="EEEEEE"/>
              </a:solidFill>
            </a:endParaRPr>
          </a:p>
        </p:txBody>
      </p:sp>
      <p:sp>
        <p:nvSpPr>
          <p:cNvPr id="1297171939" name="Google Shape;140;g3a21f9eb6ba_0_100"/>
          <p:cNvSpPr/>
          <p:nvPr/>
        </p:nvSpPr>
        <p:spPr bwMode="auto">
          <a:xfrm>
            <a:off x="281318" y="1032275"/>
            <a:ext cx="768900" cy="1233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0000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>
                <a:solidFill>
                  <a:srgbClr val="EEEEEE"/>
                </a:solidFill>
              </a:rPr>
              <a:t>main.py</a:t>
            </a:r>
            <a:endParaRPr sz="900">
              <a:solidFill>
                <a:srgbClr val="EEEEE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1986272" name="Google Shape;145;g3a21f9eb6ba_0_104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3264468" name="Google Shape;146;g3a21f9eb6ba_0_104"/>
          <p:cNvSpPr txBox="1"/>
          <p:nvPr/>
        </p:nvSpPr>
        <p:spPr bwMode="auto"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>
                <a:solidFill>
                  <a:srgbClr val="000000"/>
                </a:solidFill>
              </a:rPr>
              <a:t>Additional Remarks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592298789" name="Google Shape;147;g3a21f9eb6ba_0_104"/>
          <p:cNvSpPr txBox="1"/>
          <p:nvPr/>
        </p:nvSpPr>
        <p:spPr bwMode="auto"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pPr>
            <a:r>
              <a:rPr lang="en-US" sz="1800">
                <a:solidFill>
                  <a:srgbClr val="595959"/>
                </a:solidFill>
              </a:rPr>
              <a:t>When build on local system, make sure to build and test for the arm platform</a:t>
            </a:r>
            <a:endParaRPr sz="1800">
              <a:solidFill>
                <a:srgbClr val="595959"/>
              </a:solidFill>
            </a:endParaRPr>
          </a:p>
          <a:p>
            <a:pPr marL="914400" lvl="1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  <a:defRPr/>
            </a:pPr>
            <a:r>
              <a:rPr lang="en-US" u="sng">
                <a:solidFill>
                  <a:srgbClr val="0097A7"/>
                </a:solidFill>
                <a:hlinkClick r:id="rId3" tooltip=""/>
              </a:rPr>
              <a:t>https://docs.docker.com/build/building/multi-platform/</a:t>
            </a:r>
            <a:endParaRPr>
              <a:solidFill>
                <a:srgbClr val="595959"/>
              </a:solidFill>
            </a:endParaRPr>
          </a:p>
          <a:p>
            <a:pPr marL="45720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pPr>
            <a:r>
              <a:rPr lang="en-US" sz="1800">
                <a:solidFill>
                  <a:srgbClr val="595959"/>
                </a:solidFill>
              </a:rPr>
              <a:t>There maybe compatibility issues where GPU remains unutilized</a:t>
            </a:r>
            <a:endParaRPr sz="1800">
              <a:solidFill>
                <a:srgbClr val="595959"/>
              </a:solidFill>
            </a:endParaRPr>
          </a:p>
          <a:p>
            <a:pPr marL="914400" lvl="1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  <a:defRPr/>
            </a:pPr>
            <a:r>
              <a:rPr lang="en-US">
                <a:solidFill>
                  <a:srgbClr val="595959"/>
                </a:solidFill>
              </a:rPr>
              <a:t>Use resource selector gpu</a:t>
            </a:r>
            <a:endParaRPr>
              <a:solidFill>
                <a:srgbClr val="595959"/>
              </a:solidFill>
            </a:endParaRPr>
          </a:p>
          <a:p>
            <a:pPr marL="1371600" lvl="2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■"/>
              <a:defRPr/>
            </a:pPr>
            <a:r>
              <a:rPr lang="en-US" sz="900">
                <a:solidFill>
                  <a:srgbClr val="188038"/>
                </a:solidFill>
                <a:latin typeface="Roboto Mono"/>
                <a:ea typeface="Roboto Mono"/>
                <a:cs typeface="Roboto Mono"/>
              </a:rPr>
              <a:t>sudo pluginctl run --name plugin-objectcounter --resource request.cpu=1,limit.cpu=2,request.memory=2Gi,limit.memory=3Gi --selector resource.gpu=true 10.31.81.1:5000/local/plugin-objectcounter -- -stream bottom_camera -all-objects</a:t>
            </a:r>
            <a:endParaRPr>
              <a:solidFill>
                <a:srgbClr val="595959"/>
              </a:solidFill>
            </a:endParaRPr>
          </a:p>
          <a:p>
            <a:pPr marL="914400" lvl="1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  <a:defRPr/>
            </a:pPr>
            <a:r>
              <a:rPr lang="en-US">
                <a:solidFill>
                  <a:srgbClr val="595959"/>
                </a:solidFill>
              </a:rPr>
              <a:t>Outdated firmware on older nodes</a:t>
            </a:r>
            <a:endParaRPr>
              <a:solidFill>
                <a:srgbClr val="595959"/>
              </a:solidFill>
            </a:endParaRPr>
          </a:p>
          <a:p>
            <a:pPr marL="1371600" lvl="2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■"/>
              <a:defRPr/>
            </a:pPr>
            <a:r>
              <a:rPr lang="en-US">
                <a:solidFill>
                  <a:srgbClr val="595959"/>
                </a:solidFill>
              </a:rPr>
              <a:t>newer orin nodes with latest jetpack should streamline the process</a:t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6022002" name="Google Shape;152;g3a21f9eb6ba_0_175"/>
          <p:cNvSpPr txBox="1"/>
          <p:nvPr>
            <p:ph type="title"/>
          </p:nvPr>
        </p:nvSpPr>
        <p:spPr bwMode="auto"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r>
              <a:rPr lang="en-US"/>
              <a:t>LLM Encapsulation in Sage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pPr>
            <a:r>
              <a:rPr lang="en-US" sz="3600"/>
              <a:t>ECR Deployment</a:t>
            </a:r>
            <a:endParaRPr sz="3600"/>
          </a:p>
        </p:txBody>
      </p:sp>
      <p:sp>
        <p:nvSpPr>
          <p:cNvPr id="640006044" name="Google Shape;153;g3a21f9eb6ba_0_175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6625610" name="Google Shape;158;g3a21f9eb6ba_0_108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7627181" name="Google Shape;159;g3a21f9eb6ba_0_108"/>
          <p:cNvSpPr txBox="1"/>
          <p:nvPr/>
        </p:nvSpPr>
        <p:spPr bwMode="auto"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>
                <a:solidFill>
                  <a:srgbClr val="000000"/>
                </a:solidFill>
              </a:rPr>
              <a:t>Quick Start for Deploying Moondream on ECR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1810297651" name="Google Shape;160;g3a21f9eb6ba_0_108"/>
          <p:cNvPicPr/>
          <p:nvPr/>
        </p:nvPicPr>
        <p:blipFill>
          <a:blip r:embed="rId3">
            <a:alphaModFix/>
          </a:blip>
          <a:srcRect l="0" t="0" r="37919" b="3296"/>
          <a:stretch/>
        </p:blipFill>
        <p:spPr bwMode="auto">
          <a:xfrm>
            <a:off x="311700" y="1122125"/>
            <a:ext cx="3464699" cy="3362400"/>
          </a:xfrm>
          <a:prstGeom prst="roundRect">
            <a:avLst>
              <a:gd name="adj" fmla="val 2607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71821211" name="Google Shape;161;g3a21f9eb6ba_0_108"/>
          <p:cNvSpPr/>
          <p:nvPr/>
        </p:nvSpPr>
        <p:spPr bwMode="auto">
          <a:xfrm>
            <a:off x="2363600" y="1857975"/>
            <a:ext cx="870300" cy="246900"/>
          </a:xfrm>
          <a:prstGeom prst="rect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457059764" name="Google Shape;162;g3a21f9eb6ba_0_108"/>
          <p:cNvCxnSpPr/>
          <p:nvPr/>
        </p:nvCxnSpPr>
        <p:spPr bwMode="auto">
          <a:xfrm rot="10800000">
            <a:off x="3349825" y="1981425"/>
            <a:ext cx="881700" cy="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7334698" name="Google Shape;163;g3a21f9eb6ba_0_108"/>
          <p:cNvSpPr/>
          <p:nvPr/>
        </p:nvSpPr>
        <p:spPr bwMode="auto">
          <a:xfrm>
            <a:off x="4231525" y="1406375"/>
            <a:ext cx="4731000" cy="1419300"/>
          </a:xfrm>
          <a:prstGeom prst="roundRect">
            <a:avLst>
              <a:gd name="adj" fmla="val 1735"/>
            </a:avLst>
          </a:prstGeom>
          <a:solidFill>
            <a:srgbClr val="EEEEEE"/>
          </a:solidFill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pPr>
            <a:r>
              <a:rPr lang="en-US" sz="1800">
                <a:solidFill>
                  <a:srgbClr val="595959"/>
                </a:solidFill>
              </a:rPr>
              <a:t>Go to: </a:t>
            </a:r>
            <a:r>
              <a:rPr lang="en-US" sz="1800" u="sng">
                <a:solidFill>
                  <a:srgbClr val="595959"/>
                </a:solidFill>
                <a:hlinkClick r:id="rId4" tooltip=""/>
              </a:rPr>
              <a:t>https://portal.sagecontinuum.org</a:t>
            </a:r>
            <a:endParaRPr sz="1800">
              <a:solidFill>
                <a:srgbClr val="595959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pPr>
            <a:r>
              <a:rPr lang="en-US" sz="1800">
                <a:solidFill>
                  <a:srgbClr val="595959"/>
                </a:solidFill>
              </a:rPr>
              <a:t>Make sure you are logged in</a:t>
            </a:r>
            <a:endParaRPr sz="1800">
              <a:solidFill>
                <a:srgbClr val="595959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pPr>
            <a:r>
              <a:rPr lang="en-US" sz="1800">
                <a:solidFill>
                  <a:srgbClr val="595959"/>
                </a:solidFill>
              </a:rPr>
              <a:t>Click [Job Status] then [Create Job]</a:t>
            </a:r>
            <a:endParaRPr sz="1800" b="1">
              <a:solidFill>
                <a:srgbClr val="59595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147465" name="Google Shape;168;g3a21f9eb6ba_0_112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91523457" name="Google Shape;169;g3a21f9eb6ba_0_112"/>
          <p:cNvPicPr/>
          <p:nvPr/>
        </p:nvPicPr>
        <p:blipFill>
          <a:blip r:embed="rId3">
            <a:alphaModFix/>
          </a:blip>
          <a:srcRect l="2990" t="0" r="39048" b="0"/>
          <a:stretch/>
        </p:blipFill>
        <p:spPr bwMode="auto">
          <a:xfrm>
            <a:off x="193375" y="0"/>
            <a:ext cx="3750875" cy="5143499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08644545" name="Google Shape;170;g3a21f9eb6ba_0_112"/>
          <p:cNvSpPr/>
          <p:nvPr/>
        </p:nvSpPr>
        <p:spPr bwMode="auto">
          <a:xfrm>
            <a:off x="864724" y="1404150"/>
            <a:ext cx="798900" cy="566100"/>
          </a:xfrm>
          <a:prstGeom prst="rect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3075" tIns="123075" rIns="123075" bIns="123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900"/>
          </a:p>
        </p:txBody>
      </p:sp>
      <p:cxnSp>
        <p:nvCxnSpPr>
          <p:cNvPr id="1043552739" name="Google Shape;171;g3a21f9eb6ba_0_112"/>
          <p:cNvCxnSpPr/>
          <p:nvPr/>
        </p:nvCxnSpPr>
        <p:spPr bwMode="auto">
          <a:xfrm rot="10800000">
            <a:off x="1763050" y="1743725"/>
            <a:ext cx="2252400" cy="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1705035" name="Google Shape;172;g3a21f9eb6ba_0_112"/>
          <p:cNvCxnSpPr/>
          <p:nvPr/>
        </p:nvCxnSpPr>
        <p:spPr bwMode="auto">
          <a:xfrm rot="10800000">
            <a:off x="1031925" y="5016549"/>
            <a:ext cx="2988900" cy="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53928940" name="Google Shape;173;g3a21f9eb6ba_0_112"/>
          <p:cNvSpPr/>
          <p:nvPr/>
        </p:nvSpPr>
        <p:spPr bwMode="auto">
          <a:xfrm>
            <a:off x="760099" y="2775550"/>
            <a:ext cx="536700" cy="184800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3075" tIns="123075" rIns="123075" bIns="123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900"/>
          </a:p>
        </p:txBody>
      </p:sp>
      <p:cxnSp>
        <p:nvCxnSpPr>
          <p:cNvPr id="1251610652" name="Google Shape;174;g3a21f9eb6ba_0_112"/>
          <p:cNvCxnSpPr/>
          <p:nvPr/>
        </p:nvCxnSpPr>
        <p:spPr bwMode="auto">
          <a:xfrm rot="10800000">
            <a:off x="1403600" y="2878000"/>
            <a:ext cx="536700" cy="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37795459" name="Google Shape;175;g3a21f9eb6ba_0_112"/>
          <p:cNvSpPr/>
          <p:nvPr/>
        </p:nvSpPr>
        <p:spPr bwMode="auto">
          <a:xfrm>
            <a:off x="1940300" y="2775550"/>
            <a:ext cx="929100" cy="204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90"/>
              </a:spcAft>
              <a:buNone/>
              <a:defRPr/>
            </a:pPr>
            <a:r>
              <a:rPr lang="en-US" sz="850">
                <a:solidFill>
                  <a:srgbClr val="595959"/>
                </a:solidFill>
              </a:rPr>
              <a:t>Node to run on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684498028" name="Google Shape;176;g3a21f9eb6ba_0_112"/>
          <p:cNvSpPr/>
          <p:nvPr/>
        </p:nvSpPr>
        <p:spPr bwMode="auto">
          <a:xfrm>
            <a:off x="4020625" y="4816500"/>
            <a:ext cx="1132800" cy="2622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90"/>
              </a:spcAft>
              <a:buNone/>
              <a:defRPr/>
            </a:pPr>
            <a:r>
              <a:rPr lang="en-US" sz="850">
                <a:solidFill>
                  <a:srgbClr val="595959"/>
                </a:solidFill>
              </a:rPr>
              <a:t>Submit when done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592170183" name="Google Shape;177;g3a21f9eb6ba_0_112"/>
          <p:cNvSpPr/>
          <p:nvPr/>
        </p:nvSpPr>
        <p:spPr bwMode="auto">
          <a:xfrm>
            <a:off x="4020625" y="79002"/>
            <a:ext cx="4925100" cy="4292700"/>
          </a:xfrm>
          <a:prstGeom prst="roundRect">
            <a:avLst>
              <a:gd name="adj" fmla="val 1735"/>
            </a:avLst>
          </a:prstGeom>
          <a:solidFill>
            <a:srgbClr val="EEEEEE"/>
          </a:solidFill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50" b="1">
                <a:solidFill>
                  <a:srgbClr val="595959"/>
                </a:solidFill>
              </a:rPr>
              <a:t>Arguments (Args):</a:t>
            </a:r>
            <a:endParaRPr sz="850" b="1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90"/>
              </a:spcBef>
              <a:spcAft>
                <a:spcPts val="0"/>
              </a:spcAft>
              <a:buNone/>
              <a:defRPr/>
            </a:pPr>
            <a:br>
              <a:rPr lang="en-US" sz="850">
                <a:solidFill>
                  <a:srgbClr val="595959"/>
                </a:solidFill>
              </a:rPr>
            </a:br>
            <a:r>
              <a:rPr lang="en-US" sz="850">
                <a:solidFill>
                  <a:srgbClr val="595959"/>
                </a:solidFill>
              </a:rPr>
              <a:t>description: ID or name of a stream, e.g. bottom_camera, top_camera, left_camera</a:t>
            </a:r>
            <a:endParaRPr sz="85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  <a:defRPr/>
            </a:pPr>
            <a:r>
              <a:rPr lang="en-US" sz="850">
                <a:solidFill>
                  <a:srgbClr val="595959"/>
                </a:solidFill>
              </a:rPr>
              <a:t>    id: stream</a:t>
            </a:r>
            <a:endParaRPr sz="85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  <a:defRPr/>
            </a:pPr>
            <a:r>
              <a:rPr lang="en-US" sz="850">
                <a:solidFill>
                  <a:srgbClr val="595959"/>
                </a:solidFill>
              </a:rPr>
              <a:t>    type: string</a:t>
            </a:r>
            <a:endParaRPr sz="85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  <a:defRPr/>
            </a:pPr>
            <a:r>
              <a:rPr lang="en-US" sz="850">
                <a:solidFill>
                  <a:srgbClr val="595959"/>
                </a:solidFill>
              </a:rPr>
              <a:t>description: Flag to run this plugin forever</a:t>
            </a:r>
            <a:endParaRPr sz="85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  <a:defRPr/>
            </a:pPr>
            <a:r>
              <a:rPr lang="en-US" sz="850">
                <a:solidFill>
                  <a:srgbClr val="595959"/>
                </a:solidFill>
              </a:rPr>
              <a:t>    id: continuous</a:t>
            </a:r>
            <a:endParaRPr sz="85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  <a:defRPr/>
            </a:pPr>
            <a:r>
              <a:rPr lang="en-US" sz="850">
                <a:solidFill>
                  <a:srgbClr val="595959"/>
                </a:solidFill>
              </a:rPr>
              <a:t>    type: boolean</a:t>
            </a:r>
            <a:endParaRPr sz="85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  <a:defRPr/>
            </a:pPr>
            <a:r>
              <a:rPr lang="en-US" sz="850">
                <a:solidFill>
                  <a:srgbClr val="595959"/>
                </a:solidFill>
              </a:rPr>
              <a:t>description: Generate a caption from the model</a:t>
            </a:r>
            <a:endParaRPr sz="85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  <a:defRPr/>
            </a:pPr>
            <a:r>
              <a:rPr lang="en-US" sz="850">
                <a:solidFill>
                  <a:srgbClr val="595959"/>
                </a:solidFill>
              </a:rPr>
              <a:t>    id: caption</a:t>
            </a:r>
            <a:endParaRPr sz="85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  <a:defRPr/>
            </a:pPr>
            <a:r>
              <a:rPr lang="en-US" sz="850">
                <a:solidFill>
                  <a:srgbClr val="595959"/>
                </a:solidFill>
              </a:rPr>
              <a:t>    type: boolean</a:t>
            </a:r>
            <a:endParaRPr sz="850" u="sng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  <a:defRPr/>
            </a:pPr>
            <a:r>
              <a:rPr lang="en-US" sz="850">
                <a:solidFill>
                  <a:srgbClr val="595959"/>
                </a:solidFill>
              </a:rPr>
              <a:t>description: Load the 0.5b model instead of 2b</a:t>
            </a:r>
            <a:endParaRPr sz="85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  <a:defRPr/>
            </a:pPr>
            <a:r>
              <a:rPr lang="en-US" sz="850">
                <a:solidFill>
                  <a:srgbClr val="595959"/>
                </a:solidFill>
              </a:rPr>
              <a:t>    id: small</a:t>
            </a:r>
            <a:endParaRPr sz="85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  <a:defRPr/>
            </a:pPr>
            <a:r>
              <a:rPr lang="en-US" sz="850">
                <a:solidFill>
                  <a:srgbClr val="595959"/>
                </a:solidFill>
              </a:rPr>
              <a:t>    type: boolean</a:t>
            </a:r>
            <a:endParaRPr sz="85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  <a:defRPr/>
            </a:pPr>
            <a:r>
              <a:rPr lang="en-US" sz="850">
                <a:solidFill>
                  <a:srgbClr val="595959"/>
                </a:solidFill>
              </a:rPr>
              <a:t>description: Use quantized int4 instead of int8</a:t>
            </a:r>
            <a:endParaRPr sz="85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  <a:defRPr/>
            </a:pPr>
            <a:r>
              <a:rPr lang="en-US" sz="850">
                <a:solidFill>
                  <a:srgbClr val="595959"/>
                </a:solidFill>
              </a:rPr>
              <a:t>    id: int4</a:t>
            </a:r>
            <a:endParaRPr sz="85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  <a:defRPr/>
            </a:pPr>
            <a:r>
              <a:rPr lang="en-US" sz="850">
                <a:solidFill>
                  <a:srgbClr val="595959"/>
                </a:solidFill>
              </a:rPr>
              <a:t>    type: boolean</a:t>
            </a:r>
            <a:endParaRPr sz="85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  <a:defRPr/>
            </a:pPr>
            <a:r>
              <a:rPr lang="en-US" sz="850">
                <a:solidFill>
                  <a:srgbClr val="595959"/>
                </a:solidFill>
              </a:rPr>
              <a:t>description: Load and unload parts of the model as needed</a:t>
            </a:r>
            <a:endParaRPr sz="85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  <a:defRPr/>
            </a:pPr>
            <a:r>
              <a:rPr lang="en-US" sz="850">
                <a:solidFill>
                  <a:srgbClr val="595959"/>
                </a:solidFill>
              </a:rPr>
              <a:t>    id: dynamic-loading</a:t>
            </a:r>
            <a:endParaRPr sz="85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  <a:defRPr/>
            </a:pPr>
            <a:r>
              <a:rPr lang="en-US" sz="850">
                <a:solidFill>
                  <a:srgbClr val="595959"/>
                </a:solidFill>
              </a:rPr>
              <a:t>    type: boolean</a:t>
            </a:r>
            <a:endParaRPr sz="85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  <a:defRPr/>
            </a:pPr>
            <a:r>
              <a:rPr lang="en-US" sz="850">
                <a:solidFill>
                  <a:srgbClr val="595959"/>
                </a:solidFill>
              </a:rPr>
              <a:t>description: Prompt the model and get a response</a:t>
            </a:r>
            <a:endParaRPr sz="85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  <a:defRPr/>
            </a:pPr>
            <a:r>
              <a:rPr lang="en-US" sz="850">
                <a:solidFill>
                  <a:srgbClr val="595959"/>
                </a:solidFill>
              </a:rPr>
              <a:t>    id: query</a:t>
            </a:r>
            <a:endParaRPr sz="85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  <a:defRPr/>
            </a:pPr>
            <a:r>
              <a:rPr lang="en-US" sz="850">
                <a:solidFill>
                  <a:srgbClr val="595959"/>
                </a:solidFill>
              </a:rPr>
              <a:t>    type: string</a:t>
            </a:r>
            <a:endParaRPr sz="85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  <a:defRPr/>
            </a:pPr>
            <a:r>
              <a:rPr lang="en-US" sz="850">
                <a:solidFill>
                  <a:srgbClr val="595959"/>
                </a:solidFill>
              </a:rPr>
              <a:t>description: Bounding boxes for the image from a prompt</a:t>
            </a:r>
            <a:endParaRPr sz="85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  <a:defRPr/>
            </a:pPr>
            <a:r>
              <a:rPr lang="en-US" sz="850">
                <a:solidFill>
                  <a:srgbClr val="595959"/>
                </a:solidFill>
              </a:rPr>
              <a:t>    id: detect</a:t>
            </a:r>
            <a:endParaRPr sz="85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  <a:defRPr/>
            </a:pPr>
            <a:r>
              <a:rPr lang="en-US" sz="850">
                <a:solidFill>
                  <a:srgbClr val="595959"/>
                </a:solidFill>
              </a:rPr>
              <a:t>    type: string</a:t>
            </a:r>
            <a:endParaRPr sz="85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  <a:defRPr/>
            </a:pPr>
            <a:r>
              <a:rPr lang="en-US" sz="850">
                <a:solidFill>
                  <a:srgbClr val="595959"/>
                </a:solidFill>
              </a:rPr>
              <a:t>description: Get X,Y location for the image from the prompt</a:t>
            </a:r>
            <a:endParaRPr sz="85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  <a:defRPr/>
            </a:pPr>
            <a:r>
              <a:rPr lang="en-US" sz="850">
                <a:solidFill>
                  <a:srgbClr val="595959"/>
                </a:solidFill>
              </a:rPr>
              <a:t>    id: point</a:t>
            </a:r>
            <a:endParaRPr sz="85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90"/>
              </a:spcBef>
              <a:spcAft>
                <a:spcPts val="90"/>
              </a:spcAft>
              <a:buNone/>
              <a:defRPr/>
            </a:pPr>
            <a:r>
              <a:rPr lang="en-US" sz="850">
                <a:solidFill>
                  <a:srgbClr val="595959"/>
                </a:solidFill>
              </a:rPr>
              <a:t>    type: string</a:t>
            </a:r>
            <a:endParaRPr sz="850">
              <a:solidFill>
                <a:srgbClr val="59595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104337" name="Google Shape;182;g3a21f9eb6ba_0_142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88598235" name="Google Shape;183;g3a21f9eb6ba_0_142"/>
          <p:cNvPicPr/>
          <p:nvPr/>
        </p:nvPicPr>
        <p:blipFill>
          <a:blip r:embed="rId3">
            <a:alphaModFix/>
          </a:blip>
          <a:srcRect l="0" t="73057" r="0" b="4807"/>
          <a:stretch/>
        </p:blipFill>
        <p:spPr bwMode="auto">
          <a:xfrm>
            <a:off x="272150" y="3305834"/>
            <a:ext cx="8599800" cy="1095900"/>
          </a:xfrm>
          <a:prstGeom prst="roundRect">
            <a:avLst>
              <a:gd name="adj" fmla="val 4839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23043707" name="Google Shape;184;g3a21f9eb6ba_0_142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4194012" y="383751"/>
            <a:ext cx="4677900" cy="2750100"/>
          </a:xfrm>
          <a:prstGeom prst="roundRect">
            <a:avLst>
              <a:gd name="adj" fmla="val 2729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51340898" name="Google Shape;185;g3a21f9eb6ba_0_142"/>
          <p:cNvSpPr txBox="1"/>
          <p:nvPr/>
        </p:nvSpPr>
        <p:spPr bwMode="auto">
          <a:xfrm>
            <a:off x="272138" y="418602"/>
            <a:ext cx="3587700" cy="26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pPr>
            <a:r>
              <a:rPr lang="en-US" sz="1800">
                <a:solidFill>
                  <a:srgbClr val="595959"/>
                </a:solidFill>
              </a:rPr>
              <a:t>You can verify that it is running in [Job Status] -&gt; [My Jobs]</a:t>
            </a:r>
            <a:endParaRPr sz="1800">
              <a:solidFill>
                <a:srgbClr val="595959"/>
              </a:solidFill>
            </a:endParaRPr>
          </a:p>
          <a:p>
            <a:pPr marL="45720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pPr>
            <a:r>
              <a:rPr lang="en-US" sz="1800">
                <a:solidFill>
                  <a:srgbClr val="595959"/>
                </a:solidFill>
              </a:rPr>
              <a:t>Note that smaller models, tend to hallucinate more when prompted.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3804490" name="Google Shape;190;g3a21f9eb6ba_0_146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423815" name="Google Shape;191;g3a21f9eb6ba_0_146"/>
          <p:cNvSpPr txBox="1"/>
          <p:nvPr/>
        </p:nvSpPr>
        <p:spPr bwMode="auto">
          <a:xfrm>
            <a:off x="311700" y="24710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>
                <a:solidFill>
                  <a:srgbClr val="000000"/>
                </a:solidFill>
              </a:rPr>
              <a:t>Examples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404468835" name="Google Shape;192;g3a21f9eb6ba_0_146"/>
          <p:cNvSpPr/>
          <p:nvPr/>
        </p:nvSpPr>
        <p:spPr bwMode="auto">
          <a:xfrm>
            <a:off x="424425" y="824300"/>
            <a:ext cx="3923400" cy="3476100"/>
          </a:xfrm>
          <a:prstGeom prst="roundRect">
            <a:avLst>
              <a:gd name="adj" fmla="val 1735"/>
            </a:avLst>
          </a:prstGeom>
          <a:solidFill>
            <a:srgbClr val="43434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name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moondream-test-job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plugins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</a:t>
            </a:r>
            <a:endParaRPr sz="600">
              <a:solidFill>
                <a:srgbClr val="D4D4D4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- </a:t>
            </a: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name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moondream-test-app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pluginSpec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</a:t>
            </a:r>
            <a:endParaRPr sz="600">
              <a:solidFill>
                <a:srgbClr val="D4D4D4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image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registry.sagecontinuum.org/chrislee/moondream-2:0.2.0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args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</a:t>
            </a:r>
            <a:endParaRPr sz="600">
              <a:solidFill>
                <a:srgbClr val="D4D4D4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-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--small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-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--stream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-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bottom_camera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-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--query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-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Is there a fire?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selector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</a:t>
            </a:r>
            <a:endParaRPr sz="600">
              <a:solidFill>
                <a:srgbClr val="D4D4D4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resource.gpu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"true"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resource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</a:t>
            </a:r>
            <a:endParaRPr sz="600">
              <a:solidFill>
                <a:srgbClr val="D4D4D4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limit.cpu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"1"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limit.memory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2.9Gi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request.cpu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"1"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request.memory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2.9Gi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volume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lang="en-US" sz="600">
                <a:solidFill>
                  <a:srgbClr val="DCDCDC"/>
                </a:solidFill>
                <a:latin typeface="Courier New"/>
                <a:ea typeface="Courier New"/>
                <a:cs typeface="Courier New"/>
              </a:rPr>
              <a:t>{}</a:t>
            </a:r>
            <a:endParaRPr sz="600">
              <a:solidFill>
                <a:srgbClr val="DCDCDC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nodeTags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lang="en-US" sz="600">
                <a:solidFill>
                  <a:srgbClr val="DCDCDC"/>
                </a:solidFill>
                <a:latin typeface="Courier New"/>
                <a:ea typeface="Courier New"/>
                <a:cs typeface="Courier New"/>
              </a:rPr>
              <a:t>[]</a:t>
            </a:r>
            <a:endParaRPr sz="600">
              <a:solidFill>
                <a:srgbClr val="DCDCDC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nodes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</a:t>
            </a:r>
            <a:endParaRPr sz="600">
              <a:solidFill>
                <a:srgbClr val="D4D4D4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W070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lang="en-US" sz="600">
                <a:solidFill>
                  <a:srgbClr val="569CD6"/>
                </a:solidFill>
                <a:latin typeface="Courier New"/>
                <a:ea typeface="Courier New"/>
                <a:cs typeface="Courier New"/>
              </a:rPr>
              <a:t>null</a:t>
            </a:r>
            <a:endParaRPr sz="600">
              <a:solidFill>
                <a:srgbClr val="569CD6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scienceRules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</a:t>
            </a:r>
            <a:endParaRPr sz="600">
              <a:solidFill>
                <a:srgbClr val="D4D4D4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- </a:t>
            </a: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'schedule(moondream-test-app)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cronjob("moondream-test-app", "*/30 * * * *")'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successCriteria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lang="en-US" sz="600">
                <a:solidFill>
                  <a:srgbClr val="DCDCDC"/>
                </a:solidFill>
                <a:latin typeface="Courier New"/>
                <a:ea typeface="Courier New"/>
                <a:cs typeface="Courier New"/>
              </a:rPr>
              <a:t>[]</a:t>
            </a:r>
            <a:endParaRPr sz="600" b="1">
              <a:solidFill>
                <a:srgbClr val="000000"/>
              </a:solidFill>
            </a:endParaRPr>
          </a:p>
        </p:txBody>
      </p:sp>
      <p:sp>
        <p:nvSpPr>
          <p:cNvPr id="1540287111" name="Google Shape;193;g3a21f9eb6ba_0_146"/>
          <p:cNvSpPr/>
          <p:nvPr/>
        </p:nvSpPr>
        <p:spPr bwMode="auto">
          <a:xfrm>
            <a:off x="4796175" y="824304"/>
            <a:ext cx="3923400" cy="4140600"/>
          </a:xfrm>
          <a:prstGeom prst="roundRect">
            <a:avLst>
              <a:gd name="adj" fmla="val 1735"/>
            </a:avLst>
          </a:prstGeom>
          <a:solidFill>
            <a:srgbClr val="43434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name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moondream-test-job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plugins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</a:t>
            </a:r>
            <a:endParaRPr sz="600">
              <a:solidFill>
                <a:srgbClr val="D4D4D4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- </a:t>
            </a: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name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moondream-test-app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pluginSpec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</a:t>
            </a:r>
            <a:endParaRPr sz="600">
              <a:solidFill>
                <a:srgbClr val="D4D4D4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</a:t>
            </a: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image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registry.sagecontinuum.org/chrislee/moondream-2:0.1.5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</a:t>
            </a: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args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</a:t>
            </a:r>
            <a:endParaRPr sz="600">
              <a:solidFill>
                <a:srgbClr val="D4D4D4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-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--dynamic-loading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-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--stream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-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bottom_camera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-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--caption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-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--point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-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smoke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-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--point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-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fire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-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--point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-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hazard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-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--query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-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Is there a fire?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</a:t>
            </a: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selector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</a:t>
            </a:r>
            <a:endParaRPr sz="600">
              <a:solidFill>
                <a:srgbClr val="D4D4D4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 </a:t>
            </a: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resource.gpu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"true"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</a:t>
            </a: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resource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</a:t>
            </a:r>
            <a:endParaRPr sz="600">
              <a:solidFill>
                <a:srgbClr val="D4D4D4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 </a:t>
            </a: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limit.cpu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"3"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 </a:t>
            </a: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limit.memory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7Gi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 </a:t>
            </a: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request.cpu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"3"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 </a:t>
            </a: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request.memory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7Gi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</a:t>
            </a: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volume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lang="en-US" sz="600">
                <a:solidFill>
                  <a:srgbClr val="DCDCDC"/>
                </a:solidFill>
                <a:latin typeface="Courier New"/>
                <a:ea typeface="Courier New"/>
                <a:cs typeface="Courier New"/>
              </a:rPr>
              <a:t>{}</a:t>
            </a:r>
            <a:endParaRPr sz="600">
              <a:solidFill>
                <a:srgbClr val="DCDCDC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nodeTags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lang="en-US" sz="600">
                <a:solidFill>
                  <a:srgbClr val="DCDCDC"/>
                </a:solidFill>
                <a:latin typeface="Courier New"/>
                <a:ea typeface="Courier New"/>
                <a:cs typeface="Courier New"/>
              </a:rPr>
              <a:t>[]</a:t>
            </a:r>
            <a:endParaRPr sz="600">
              <a:solidFill>
                <a:srgbClr val="DCDCDC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nodes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</a:t>
            </a:r>
            <a:endParaRPr sz="600">
              <a:solidFill>
                <a:srgbClr val="D4D4D4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W070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lang="en-US" sz="600">
                <a:solidFill>
                  <a:srgbClr val="569CD6"/>
                </a:solidFill>
                <a:latin typeface="Courier New"/>
                <a:ea typeface="Courier New"/>
                <a:cs typeface="Courier New"/>
              </a:rPr>
              <a:t>null</a:t>
            </a:r>
            <a:endParaRPr sz="600">
              <a:solidFill>
                <a:srgbClr val="569CD6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scienceRules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</a:t>
            </a:r>
            <a:endParaRPr sz="600">
              <a:solidFill>
                <a:srgbClr val="D4D4D4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- </a:t>
            </a: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'schedule(moondream-test-app)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lang="en-US" sz="6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cronjob("moondream-test-app", "*/30 * * * *")'</a:t>
            </a:r>
            <a:endParaRPr sz="600">
              <a:solidFill>
                <a:srgbClr val="CE9178"/>
              </a:solidFill>
              <a:latin typeface="Courier New"/>
              <a:ea typeface="Courier New"/>
              <a:cs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">
                <a:solidFill>
                  <a:srgbClr val="3DC9B0"/>
                </a:solidFill>
                <a:latin typeface="Courier New"/>
                <a:ea typeface="Courier New"/>
                <a:cs typeface="Courier New"/>
              </a:rPr>
              <a:t>successCriteria</a:t>
            </a:r>
            <a:r>
              <a:rPr lang="en-US" sz="6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lang="en-US" sz="600">
                <a:solidFill>
                  <a:srgbClr val="DCDCDC"/>
                </a:solidFill>
                <a:latin typeface="Courier New"/>
                <a:ea typeface="Courier New"/>
                <a:cs typeface="Courier New"/>
              </a:rPr>
              <a:t>[]</a:t>
            </a:r>
            <a:endParaRPr sz="600">
              <a:solidFill>
                <a:srgbClr val="3DC9B0"/>
              </a:solidFill>
              <a:latin typeface="Courier New"/>
              <a:ea typeface="Courier New"/>
              <a:cs typeface="Courier Ne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678952" name="Google Shape;198;g3a21f9eb6ba_0_150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9406208" name="Google Shape;199;g3a21f9eb6ba_0_150"/>
          <p:cNvSpPr txBox="1"/>
          <p:nvPr/>
        </p:nvSpPr>
        <p:spPr bwMode="auto"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>
                <a:solidFill>
                  <a:srgbClr val="000000"/>
                </a:solidFill>
              </a:rPr>
              <a:t>Other Notes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597134270" name="Google Shape;200;g3a21f9eb6ba_0_150"/>
          <p:cNvSpPr txBox="1"/>
          <p:nvPr/>
        </p:nvSpPr>
        <p:spPr bwMode="auto">
          <a:xfrm>
            <a:off x="311700" y="1152475"/>
            <a:ext cx="8520600" cy="3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pPr>
            <a:r>
              <a:rPr lang="en-US" sz="1800">
                <a:solidFill>
                  <a:srgbClr val="595959"/>
                </a:solidFill>
              </a:rPr>
              <a:t>Job may not run immediately after submission as the node must download the container.</a:t>
            </a:r>
            <a:endParaRPr sz="1800">
              <a:solidFill>
                <a:srgbClr val="595959"/>
              </a:solidFill>
            </a:endParaRPr>
          </a:p>
          <a:p>
            <a:pPr marL="45720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pPr>
            <a:r>
              <a:rPr lang="en-US" sz="1800">
                <a:solidFill>
                  <a:srgbClr val="595959"/>
                </a:solidFill>
              </a:rPr>
              <a:t>Enabling the GPU in the resource selector as the code doesn’t work reliably on Raspberry Pi Compute Units.</a:t>
            </a:r>
            <a:endParaRPr sz="1800">
              <a:solidFill>
                <a:srgbClr val="595959"/>
              </a:solidFill>
            </a:endParaRPr>
          </a:p>
          <a:p>
            <a:pPr marL="914400" lvl="1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  <a:defRPr/>
            </a:pPr>
            <a:r>
              <a:rPr lang="en-US">
                <a:solidFill>
                  <a:srgbClr val="595959"/>
                </a:solidFill>
              </a:rPr>
              <a:t>Moondream 2, as of now runs on CPU only</a:t>
            </a:r>
            <a:endParaRPr>
              <a:solidFill>
                <a:srgbClr val="595959"/>
              </a:solidFill>
            </a:endParaRPr>
          </a:p>
          <a:p>
            <a:pPr marL="45720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pPr>
            <a:r>
              <a:rPr lang="en-US" sz="1800">
                <a:solidFill>
                  <a:srgbClr val="595959"/>
                </a:solidFill>
              </a:rPr>
              <a:t>Dynamic Loading is meant to reduce the RAM usage slightly with trade off for longer compute time.</a:t>
            </a:r>
            <a:endParaRPr sz="1800">
              <a:solidFill>
                <a:srgbClr val="595959"/>
              </a:solidFill>
            </a:endParaRPr>
          </a:p>
          <a:p>
            <a:pPr marL="45720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pPr>
            <a:r>
              <a:rPr lang="en-US" sz="1800">
                <a:solidFill>
                  <a:srgbClr val="595959"/>
                </a:solidFill>
              </a:rPr>
              <a:t>Moondream 2 model used is the 2024 variant</a:t>
            </a:r>
            <a:endParaRPr sz="1800">
              <a:solidFill>
                <a:srgbClr val="595959"/>
              </a:solidFill>
            </a:endParaRPr>
          </a:p>
          <a:p>
            <a:pPr marL="45720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pPr>
            <a:r>
              <a:rPr lang="en-US" sz="1800">
                <a:solidFill>
                  <a:srgbClr val="595959"/>
                </a:solidFill>
              </a:rPr>
              <a:t>Smaller model constraints</a:t>
            </a:r>
            <a:endParaRPr sz="1800">
              <a:solidFill>
                <a:srgbClr val="595959"/>
              </a:solidFill>
            </a:endParaRPr>
          </a:p>
          <a:p>
            <a:pPr marL="914400" lvl="1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  <a:defRPr/>
            </a:pPr>
            <a:r>
              <a:rPr lang="en-US">
                <a:solidFill>
                  <a:srgbClr val="595959"/>
                </a:solidFill>
              </a:rPr>
              <a:t>Point and Object Detect wont work</a:t>
            </a:r>
            <a:endParaRPr>
              <a:solidFill>
                <a:srgbClr val="595959"/>
              </a:solidFill>
            </a:endParaRPr>
          </a:p>
          <a:p>
            <a:pPr marL="45720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pPr>
            <a:r>
              <a:rPr lang="en-US" sz="1800">
                <a:solidFill>
                  <a:srgbClr val="595959"/>
                </a:solidFill>
              </a:rPr>
              <a:t>Sophisticated prompts may not work reliably, keep prompts short and concise for best results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onlyoffice/9.0.4.50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Anonymous</cp:lastModifiedBy>
  <cp:revision>1</cp:revision>
  <dcterms:modified xsi:type="dcterms:W3CDTF">2026-01-28T21:04:10Z</dcterms:modified>
</cp:coreProperties>
</file>